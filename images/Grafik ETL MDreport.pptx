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655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5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749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0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25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9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53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701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12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683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91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1AC2-4150-407C-A9A0-54E0CF37BB12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7BB69-931D-45F5-923A-43153E410E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03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3346622" y="1486815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ORBIS</a:t>
            </a:r>
            <a:br>
              <a:rPr lang="de-DE" dirty="0"/>
            </a:br>
            <a:r>
              <a:rPr lang="de-DE" sz="1400" dirty="0"/>
              <a:t>Klinisches Arbeitsplatzsystem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3346622" y="3072599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Opus-L</a:t>
            </a:r>
            <a:br>
              <a:rPr lang="de-DE" dirty="0"/>
            </a:br>
            <a:r>
              <a:rPr lang="de-DE" sz="1400" dirty="0"/>
              <a:t>Laborsystem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3346621" y="4658383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SeqSphere</a:t>
            </a:r>
            <a:br>
              <a:rPr lang="de-DE" dirty="0"/>
            </a:br>
            <a:r>
              <a:rPr lang="de-DE" sz="1400" dirty="0"/>
              <a:t>Gensequenztool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7656156" y="3072599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BaseX</a:t>
            </a:r>
            <a:br>
              <a:rPr lang="de-DE" dirty="0"/>
            </a:br>
            <a:r>
              <a:rPr lang="de-DE" sz="1400" dirty="0" err="1"/>
              <a:t>Datalake</a:t>
            </a:r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2468398" y="1436015"/>
            <a:ext cx="2553729" cy="864973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HL7 FHIR</a:t>
            </a:r>
            <a:br>
              <a:rPr lang="de-DE" dirty="0"/>
            </a:br>
            <a:r>
              <a:rPr lang="de-DE" sz="1400" dirty="0"/>
              <a:t>MII Kerndatensatz, GECCO</a:t>
            </a:r>
          </a:p>
        </p:txBody>
      </p:sp>
      <p:sp>
        <p:nvSpPr>
          <p:cNvPr id="10" name="Rechteck 9"/>
          <p:cNvSpPr/>
          <p:nvPr/>
        </p:nvSpPr>
        <p:spPr>
          <a:xfrm>
            <a:off x="12468397" y="3937572"/>
            <a:ext cx="2553729" cy="864973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openEHR</a:t>
            </a:r>
            <a:endParaRPr lang="de-DE" dirty="0"/>
          </a:p>
        </p:txBody>
      </p:sp>
      <p:sp>
        <p:nvSpPr>
          <p:cNvPr id="11" name="Rechteck 10"/>
          <p:cNvSpPr/>
          <p:nvPr/>
        </p:nvSpPr>
        <p:spPr>
          <a:xfrm>
            <a:off x="7656156" y="4653580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MDReport</a:t>
            </a:r>
            <a:endParaRPr lang="de-DE" dirty="0"/>
          </a:p>
        </p:txBody>
      </p:sp>
      <p:cxnSp>
        <p:nvCxnSpPr>
          <p:cNvPr id="13" name="Gerade Verbindung mit Pfeil 12"/>
          <p:cNvCxnSpPr>
            <a:stCxn id="4" idx="3"/>
          </p:cNvCxnSpPr>
          <p:nvPr/>
        </p:nvCxnSpPr>
        <p:spPr>
          <a:xfrm>
            <a:off x="5900351" y="1919302"/>
            <a:ext cx="1755805" cy="1148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5" name="Gerade Verbindung mit Pfeil 14"/>
          <p:cNvCxnSpPr>
            <a:stCxn id="5" idx="3"/>
            <a:endCxn id="7" idx="1"/>
          </p:cNvCxnSpPr>
          <p:nvPr/>
        </p:nvCxnSpPr>
        <p:spPr>
          <a:xfrm>
            <a:off x="5900351" y="3505086"/>
            <a:ext cx="17558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Gerade Verbindung mit Pfeil 16"/>
          <p:cNvCxnSpPr>
            <a:stCxn id="6" idx="3"/>
          </p:cNvCxnSpPr>
          <p:nvPr/>
        </p:nvCxnSpPr>
        <p:spPr>
          <a:xfrm flipV="1">
            <a:off x="5900350" y="3937572"/>
            <a:ext cx="1755806" cy="1153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Gerade Verbindung mit Pfeil 18"/>
          <p:cNvCxnSpPr>
            <a:stCxn id="7" idx="2"/>
            <a:endCxn id="11" idx="0"/>
          </p:cNvCxnSpPr>
          <p:nvPr/>
        </p:nvCxnSpPr>
        <p:spPr>
          <a:xfrm>
            <a:off x="8933021" y="3937572"/>
            <a:ext cx="0" cy="716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1" name="Gerade Verbindung mit Pfeil 20"/>
          <p:cNvCxnSpPr>
            <a:endCxn id="9" idx="1"/>
          </p:cNvCxnSpPr>
          <p:nvPr/>
        </p:nvCxnSpPr>
        <p:spPr>
          <a:xfrm flipV="1">
            <a:off x="11229060" y="1868502"/>
            <a:ext cx="1239338" cy="798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23" name="Gerade Verbindung mit Pfeil 22"/>
          <p:cNvCxnSpPr>
            <a:endCxn id="10" idx="1"/>
          </p:cNvCxnSpPr>
          <p:nvPr/>
        </p:nvCxnSpPr>
        <p:spPr>
          <a:xfrm>
            <a:off x="11229060" y="3537122"/>
            <a:ext cx="1239337" cy="832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" name="Rechteck 1"/>
          <p:cNvSpPr/>
          <p:nvPr/>
        </p:nvSpPr>
        <p:spPr>
          <a:xfrm>
            <a:off x="1689271" y="1560755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Falltage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>
          <a:xfrm>
            <a:off x="1689271" y="3134153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Erregertypen</a:t>
            </a:r>
          </a:p>
        </p:txBody>
      </p:sp>
      <p:sp>
        <p:nvSpPr>
          <p:cNvPr id="18" name="Rechteck 17"/>
          <p:cNvSpPr/>
          <p:nvPr/>
        </p:nvSpPr>
        <p:spPr>
          <a:xfrm>
            <a:off x="1689271" y="1954149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Aufenthalte</a:t>
            </a:r>
          </a:p>
        </p:txBody>
      </p:sp>
      <p:sp>
        <p:nvSpPr>
          <p:cNvPr id="20" name="Rechteck 19"/>
          <p:cNvSpPr/>
          <p:nvPr/>
        </p:nvSpPr>
        <p:spPr>
          <a:xfrm>
            <a:off x="1689271" y="3548363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Antibiogramme</a:t>
            </a:r>
          </a:p>
        </p:txBody>
      </p:sp>
      <p:sp>
        <p:nvSpPr>
          <p:cNvPr id="22" name="Rechteck 21"/>
          <p:cNvSpPr/>
          <p:nvPr/>
        </p:nvSpPr>
        <p:spPr>
          <a:xfrm>
            <a:off x="1689270" y="4719937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Spa</a:t>
            </a:r>
            <a:r>
              <a:rPr lang="de-DE" dirty="0"/>
              <a:t>-Typ</a:t>
            </a:r>
          </a:p>
        </p:txBody>
      </p:sp>
      <p:sp>
        <p:nvSpPr>
          <p:cNvPr id="24" name="Rechteck 23"/>
          <p:cNvSpPr/>
          <p:nvPr/>
        </p:nvSpPr>
        <p:spPr>
          <a:xfrm>
            <a:off x="1689270" y="5134147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Cluster-Typ</a:t>
            </a:r>
          </a:p>
        </p:txBody>
      </p:sp>
    </p:spTree>
    <p:extLst>
      <p:ext uri="{BB962C8B-B14F-4D97-AF65-F5344CB8AC3E}">
        <p14:creationId xmlns:p14="http://schemas.microsoft.com/office/powerpoint/2010/main" val="269914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3346622" y="1486815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ORBIS</a:t>
            </a:r>
            <a:br>
              <a:rPr lang="de-DE" dirty="0"/>
            </a:br>
            <a:r>
              <a:rPr lang="de-DE" sz="1400" dirty="0" err="1"/>
              <a:t>hospital</a:t>
            </a:r>
            <a:r>
              <a:rPr lang="de-DE" sz="1400" dirty="0"/>
              <a:t> </a:t>
            </a:r>
            <a:r>
              <a:rPr lang="de-DE" sz="1400" dirty="0" err="1"/>
              <a:t>information</a:t>
            </a:r>
            <a:r>
              <a:rPr lang="de-DE" sz="1400" dirty="0"/>
              <a:t> </a:t>
            </a:r>
            <a:r>
              <a:rPr lang="de-DE" sz="1400" dirty="0" err="1"/>
              <a:t>system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3346622" y="3072599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Opus-L</a:t>
            </a:r>
            <a:br>
              <a:rPr lang="de-DE" dirty="0"/>
            </a:br>
            <a:r>
              <a:rPr lang="de-DE" sz="1400" dirty="0" err="1"/>
              <a:t>laboratory</a:t>
            </a:r>
            <a:r>
              <a:rPr lang="de-DE" sz="1400" dirty="0"/>
              <a:t> </a:t>
            </a:r>
            <a:r>
              <a:rPr lang="de-DE" sz="1400" dirty="0" err="1"/>
              <a:t>information</a:t>
            </a:r>
            <a:r>
              <a:rPr lang="de-DE" sz="1400" dirty="0"/>
              <a:t> </a:t>
            </a:r>
            <a:r>
              <a:rPr lang="de-DE" sz="1400" dirty="0" err="1"/>
              <a:t>management</a:t>
            </a:r>
            <a:r>
              <a:rPr lang="de-DE" sz="1400" dirty="0"/>
              <a:t> </a:t>
            </a:r>
            <a:r>
              <a:rPr lang="de-DE" sz="1400" dirty="0" err="1"/>
              <a:t>system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3346621" y="4658383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SeqSphere</a:t>
            </a:r>
            <a:r>
              <a:rPr lang="de-DE" dirty="0"/>
              <a:t>+</a:t>
            </a:r>
            <a:br>
              <a:rPr lang="de-DE" dirty="0"/>
            </a:br>
            <a:r>
              <a:rPr lang="de-DE" sz="1400" dirty="0" err="1"/>
              <a:t>microbial</a:t>
            </a:r>
            <a:r>
              <a:rPr lang="de-DE" sz="1400" dirty="0"/>
              <a:t> </a:t>
            </a:r>
            <a:r>
              <a:rPr lang="de-DE" sz="1400" dirty="0" err="1"/>
              <a:t>genomics</a:t>
            </a:r>
            <a:r>
              <a:rPr lang="de-DE" sz="1400" dirty="0"/>
              <a:t> </a:t>
            </a:r>
            <a:r>
              <a:rPr lang="de-DE" sz="1400" dirty="0" err="1"/>
              <a:t>software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7656156" y="3072599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BaseX</a:t>
            </a:r>
            <a:br>
              <a:rPr lang="de-DE" dirty="0"/>
            </a:br>
            <a:r>
              <a:rPr lang="de-DE" sz="1400" dirty="0" err="1"/>
              <a:t>Datalake</a:t>
            </a:r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2468398" y="1436015"/>
            <a:ext cx="2553729" cy="864973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HL7 FHIR</a:t>
            </a:r>
            <a:br>
              <a:rPr lang="de-DE" dirty="0"/>
            </a:br>
            <a:r>
              <a:rPr lang="de-DE" sz="1400" dirty="0"/>
              <a:t>MII Kerndatensatz, GECCO</a:t>
            </a:r>
          </a:p>
        </p:txBody>
      </p:sp>
      <p:sp>
        <p:nvSpPr>
          <p:cNvPr id="10" name="Rechteck 9"/>
          <p:cNvSpPr/>
          <p:nvPr/>
        </p:nvSpPr>
        <p:spPr>
          <a:xfrm>
            <a:off x="12468397" y="3937572"/>
            <a:ext cx="2553729" cy="864973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openEHR</a:t>
            </a:r>
            <a:endParaRPr lang="de-DE" dirty="0"/>
          </a:p>
        </p:txBody>
      </p:sp>
      <p:sp>
        <p:nvSpPr>
          <p:cNvPr id="11" name="Rechteck 10"/>
          <p:cNvSpPr/>
          <p:nvPr/>
        </p:nvSpPr>
        <p:spPr>
          <a:xfrm>
            <a:off x="7656156" y="4653580"/>
            <a:ext cx="2553729" cy="8649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MDROReport</a:t>
            </a:r>
            <a:endParaRPr lang="de-DE" dirty="0"/>
          </a:p>
        </p:txBody>
      </p:sp>
      <p:cxnSp>
        <p:nvCxnSpPr>
          <p:cNvPr id="13" name="Gerade Verbindung mit Pfeil 12"/>
          <p:cNvCxnSpPr>
            <a:stCxn id="4" idx="3"/>
          </p:cNvCxnSpPr>
          <p:nvPr/>
        </p:nvCxnSpPr>
        <p:spPr>
          <a:xfrm>
            <a:off x="5900351" y="1919302"/>
            <a:ext cx="1755805" cy="1148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5" name="Gerade Verbindung mit Pfeil 14"/>
          <p:cNvCxnSpPr>
            <a:stCxn id="5" idx="3"/>
            <a:endCxn id="7" idx="1"/>
          </p:cNvCxnSpPr>
          <p:nvPr/>
        </p:nvCxnSpPr>
        <p:spPr>
          <a:xfrm>
            <a:off x="5900351" y="3505086"/>
            <a:ext cx="17558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7" name="Gerade Verbindung mit Pfeil 16"/>
          <p:cNvCxnSpPr>
            <a:stCxn id="6" idx="3"/>
          </p:cNvCxnSpPr>
          <p:nvPr/>
        </p:nvCxnSpPr>
        <p:spPr>
          <a:xfrm flipV="1">
            <a:off x="5900350" y="3937572"/>
            <a:ext cx="1755806" cy="1153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19" name="Gerade Verbindung mit Pfeil 18"/>
          <p:cNvCxnSpPr>
            <a:stCxn id="7" idx="2"/>
            <a:endCxn id="11" idx="0"/>
          </p:cNvCxnSpPr>
          <p:nvPr/>
        </p:nvCxnSpPr>
        <p:spPr>
          <a:xfrm>
            <a:off x="8933021" y="3937572"/>
            <a:ext cx="0" cy="716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" name="Rechteck 1"/>
          <p:cNvSpPr/>
          <p:nvPr/>
        </p:nvSpPr>
        <p:spPr>
          <a:xfrm>
            <a:off x="1689271" y="1560755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patient</a:t>
            </a:r>
            <a:r>
              <a:rPr lang="de-DE" dirty="0"/>
              <a:t> </a:t>
            </a:r>
            <a:r>
              <a:rPr lang="de-DE" dirty="0" err="1"/>
              <a:t>days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>
          <a:xfrm>
            <a:off x="1689271" y="3134153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pathogen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18" name="Rechteck 17"/>
          <p:cNvSpPr/>
          <p:nvPr/>
        </p:nvSpPr>
        <p:spPr>
          <a:xfrm>
            <a:off x="1689271" y="1954149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patient</a:t>
            </a:r>
            <a:r>
              <a:rPr lang="de-DE" dirty="0"/>
              <a:t> </a:t>
            </a:r>
            <a:r>
              <a:rPr lang="de-DE" dirty="0" err="1"/>
              <a:t>location</a:t>
            </a:r>
            <a:endParaRPr lang="de-DE" dirty="0"/>
          </a:p>
        </p:txBody>
      </p:sp>
      <p:sp>
        <p:nvSpPr>
          <p:cNvPr id="20" name="Rechteck 19"/>
          <p:cNvSpPr/>
          <p:nvPr/>
        </p:nvSpPr>
        <p:spPr>
          <a:xfrm>
            <a:off x="1689271" y="3548363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antibiograms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1689270" y="4719937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spa</a:t>
            </a:r>
            <a:r>
              <a:rPr lang="de-DE" dirty="0"/>
              <a:t> type</a:t>
            </a:r>
          </a:p>
        </p:txBody>
      </p:sp>
      <p:sp>
        <p:nvSpPr>
          <p:cNvPr id="24" name="Rechteck 23"/>
          <p:cNvSpPr/>
          <p:nvPr/>
        </p:nvSpPr>
        <p:spPr>
          <a:xfrm>
            <a:off x="1689270" y="5134147"/>
            <a:ext cx="1657350" cy="275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cluster</a:t>
            </a:r>
            <a:r>
              <a:rPr lang="de-DE" dirty="0"/>
              <a:t> type</a:t>
            </a:r>
          </a:p>
        </p:txBody>
      </p:sp>
    </p:spTree>
    <p:extLst>
      <p:ext uri="{BB962C8B-B14F-4D97-AF65-F5344CB8AC3E}">
        <p14:creationId xmlns:p14="http://schemas.microsoft.com/office/powerpoint/2010/main" val="1542957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Breitbild</PresentationFormat>
  <Paragraphs>26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Oehm, Johannes Benedict</dc:creator>
  <cp:lastModifiedBy>Oehm, Johannes</cp:lastModifiedBy>
  <cp:revision>11</cp:revision>
  <dcterms:created xsi:type="dcterms:W3CDTF">2022-03-15T10:38:35Z</dcterms:created>
  <dcterms:modified xsi:type="dcterms:W3CDTF">2026-08-11T12:09:36Z</dcterms:modified>
</cp:coreProperties>
</file>